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Kanit" panose="020B0604020202020204" charset="-34"/>
      <p:regular r:id="rId14"/>
    </p:embeddedFont>
    <p:embeddedFont>
      <p:font typeface="Martel Sans Light" panose="020B0604020202020204" charset="0"/>
      <p:regular r:id="rId15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1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260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304693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Assistant Intelligent pour Bases de Données : Rapport de Projet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775716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Présentation d'une solution innovante pour interroger des bases de données en langage naturel. Simplifier l'accès aux données pour les utilisateurs non techniques.</a:t>
            </a:r>
            <a:endParaRPr lang="en-US" sz="18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7603D3-D00C-F934-9943-3F8A0E8A7B37}"/>
              </a:ext>
            </a:extLst>
          </p:cNvPr>
          <p:cNvSpPr/>
          <p:nvPr/>
        </p:nvSpPr>
        <p:spPr>
          <a:xfrm>
            <a:off x="0" y="0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2AEECB-3770-D8BE-560D-1F98AB151017}"/>
              </a:ext>
            </a:extLst>
          </p:cNvPr>
          <p:cNvSpPr/>
          <p:nvPr/>
        </p:nvSpPr>
        <p:spPr>
          <a:xfrm>
            <a:off x="0" y="7510409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948339"/>
            <a:ext cx="676310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Contexte et Problématique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280529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74" y="3338513"/>
            <a:ext cx="337899" cy="4224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15559" y="3280529"/>
            <a:ext cx="375118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Difficulté d'accès aux données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615559" y="4128016"/>
            <a:ext cx="375118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Complexité pour les utilisateurs non techniques.</a:t>
            </a:r>
            <a:endParaRPr lang="en-US" sz="1850" dirty="0"/>
          </a:p>
        </p:txBody>
      </p:sp>
      <p:sp>
        <p:nvSpPr>
          <p:cNvPr id="8" name="Shape 4"/>
          <p:cNvSpPr/>
          <p:nvPr/>
        </p:nvSpPr>
        <p:spPr>
          <a:xfrm>
            <a:off x="5606058" y="3280529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6308" y="3338513"/>
            <a:ext cx="337899" cy="4224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83893" y="3280529"/>
            <a:ext cx="362866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Besoin d'interfaces intuitives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6383893" y="3776067"/>
            <a:ext cx="375118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Simplifier l'interrogation des bases de données.</a:t>
            </a:r>
            <a:endParaRPr lang="en-US" sz="1850" dirty="0"/>
          </a:p>
        </p:txBody>
      </p:sp>
      <p:sp>
        <p:nvSpPr>
          <p:cNvPr id="12" name="Shape 7"/>
          <p:cNvSpPr/>
          <p:nvPr/>
        </p:nvSpPr>
        <p:spPr>
          <a:xfrm>
            <a:off x="837724" y="540258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974" y="5460563"/>
            <a:ext cx="337899" cy="4224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15559" y="5402580"/>
            <a:ext cx="365057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Automatisation des requêtes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615559" y="5898118"/>
            <a:ext cx="85195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Traduire le langage naturel en requêtes SQL.</a:t>
            </a:r>
            <a:endParaRPr lang="en-US" sz="18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73C8FD-06FE-65FC-D993-5DC784741B70}"/>
              </a:ext>
            </a:extLst>
          </p:cNvPr>
          <p:cNvSpPr/>
          <p:nvPr/>
        </p:nvSpPr>
        <p:spPr>
          <a:xfrm>
            <a:off x="0" y="12859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04AF33-4138-D197-832F-F9FED43FF724}"/>
              </a:ext>
            </a:extLst>
          </p:cNvPr>
          <p:cNvSpPr/>
          <p:nvPr/>
        </p:nvSpPr>
        <p:spPr>
          <a:xfrm>
            <a:off x="0" y="7510409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210514"/>
            <a:ext cx="834949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État de l'Art : Solutions Existantes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512820"/>
            <a:ext cx="331398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OpenAI (ChatGPT / GPT-4)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104084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Génération SQL automatique.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702493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Bonne compréhension du contexte.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552242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Hallucinations possibles.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357813" y="3512820"/>
            <a:ext cx="287797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LangChain (RAG + LLM)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57813" y="4104084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Personnalisation et flexibilité.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357813" y="4702493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Adapté aux bases internes.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5357813" y="5169218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Configuration rigoureuse requise.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877901" y="3512820"/>
            <a:ext cx="3928586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Google Cloud - Vertex AI / DataQnA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7901" y="4456033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Intégré au cloud, performant.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9877901" y="5054441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Limité à l'écosystème Google.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877901" y="5521166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Moins accessible aux PME.</a:t>
            </a:r>
            <a:endParaRPr lang="en-US" sz="18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A71044-3C6E-F5B3-0CD1-686720841A7F}"/>
              </a:ext>
            </a:extLst>
          </p:cNvPr>
          <p:cNvSpPr/>
          <p:nvPr/>
        </p:nvSpPr>
        <p:spPr>
          <a:xfrm>
            <a:off x="0" y="0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346551-3041-68D2-5C29-DAEEB99F6C35}"/>
              </a:ext>
            </a:extLst>
          </p:cNvPr>
          <p:cNvSpPr/>
          <p:nvPr/>
        </p:nvSpPr>
        <p:spPr>
          <a:xfrm>
            <a:off x="0" y="7510409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35624"/>
            <a:ext cx="704802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Langchain/ RAG, c'est quoi 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318391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Notre solution utilise LangChain pour l'approche RAG. LangChain connecte un LLM à des sources de données externes.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4353639"/>
            <a:ext cx="4158734" cy="1740218"/>
          </a:xfrm>
          <a:prstGeom prst="roundRect">
            <a:avLst>
              <a:gd name="adj" fmla="val 2063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77039" y="459295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Retrieval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7039" y="5088493"/>
            <a:ext cx="36801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Récupération d’informations pertinentes.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35773" y="4353639"/>
            <a:ext cx="4158734" cy="1740218"/>
          </a:xfrm>
          <a:prstGeom prst="roundRect">
            <a:avLst>
              <a:gd name="adj" fmla="val 2063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75089" y="4592955"/>
            <a:ext cx="292810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Augmented Generation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75089" y="5088493"/>
            <a:ext cx="36801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Génération de réponses enrichies par les données.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9633823" y="4353639"/>
            <a:ext cx="4158734" cy="1740218"/>
          </a:xfrm>
          <a:prstGeom prst="roundRect">
            <a:avLst>
              <a:gd name="adj" fmla="val 2063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873139" y="459295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Langage Naturel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3139" y="5088493"/>
            <a:ext cx="36801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Questions en langage naturel, réponses précises.</a:t>
            </a:r>
            <a:endParaRPr lang="en-US" sz="18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722090-C5CD-9299-789D-3B864AA02A36}"/>
              </a:ext>
            </a:extLst>
          </p:cNvPr>
          <p:cNvSpPr/>
          <p:nvPr/>
        </p:nvSpPr>
        <p:spPr>
          <a:xfrm>
            <a:off x="0" y="0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1B0055-49BD-A1F0-839E-EA5D91D8F93E}"/>
              </a:ext>
            </a:extLst>
          </p:cNvPr>
          <p:cNvSpPr/>
          <p:nvPr/>
        </p:nvSpPr>
        <p:spPr>
          <a:xfrm>
            <a:off x="0" y="7510409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816537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Notre Solution : Positionnement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3583543"/>
            <a:ext cx="562451" cy="562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7724" y="4385310"/>
            <a:ext cx="225016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Accessibilité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7724" y="4880848"/>
            <a:ext cx="225016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Facile à déployer (Excel, CSV, SQL).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6859" y="3583543"/>
            <a:ext cx="562451" cy="5624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46859" y="4385310"/>
            <a:ext cx="225016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Légèreté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3446859" y="4880848"/>
            <a:ext cx="225016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Architecture RAG + LLM sans infrastructure lourde.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5995" y="3583543"/>
            <a:ext cx="562570" cy="5625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55995" y="4385429"/>
            <a:ext cx="225028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Adaptabilité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055995" y="4880967"/>
            <a:ext cx="225028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S'adapte aux bases de données locales.</a:t>
            </a:r>
            <a:endParaRPr lang="en-US" sz="18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BA5086-E6C1-2599-F739-23DB229CCBBF}"/>
              </a:ext>
            </a:extLst>
          </p:cNvPr>
          <p:cNvSpPr/>
          <p:nvPr/>
        </p:nvSpPr>
        <p:spPr>
          <a:xfrm>
            <a:off x="0" y="0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258DBD-D9FD-2A73-0C4D-B825315DD3F6}"/>
              </a:ext>
            </a:extLst>
          </p:cNvPr>
          <p:cNvSpPr/>
          <p:nvPr/>
        </p:nvSpPr>
        <p:spPr>
          <a:xfrm>
            <a:off x="0" y="7510409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448829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5536" y="299204"/>
            <a:ext cx="7959328" cy="38898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7724" y="6006941"/>
            <a:ext cx="626185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Fonctionnement du code</a:t>
            </a:r>
            <a:endParaRPr lang="en-US" sz="4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4248F9-318B-4068-922E-2FECE726CDA3}"/>
              </a:ext>
            </a:extLst>
          </p:cNvPr>
          <p:cNvSpPr/>
          <p:nvPr/>
        </p:nvSpPr>
        <p:spPr>
          <a:xfrm>
            <a:off x="0" y="7510409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76273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Interface</a:t>
            </a:r>
            <a:endParaRPr lang="en-US" sz="4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FE8653-FEC5-4AA4-CB25-BCA9F63788D3}"/>
              </a:ext>
            </a:extLst>
          </p:cNvPr>
          <p:cNvSpPr/>
          <p:nvPr/>
        </p:nvSpPr>
        <p:spPr>
          <a:xfrm>
            <a:off x="0" y="0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9D9890-D957-FE23-F821-AB1C1B207120}"/>
              </a:ext>
            </a:extLst>
          </p:cNvPr>
          <p:cNvSpPr/>
          <p:nvPr/>
        </p:nvSpPr>
        <p:spPr>
          <a:xfrm>
            <a:off x="0" y="7510409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569607"/>
            <a:ext cx="578596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Démonstration et Défis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87191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Démonstration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46317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Interface utilisateur en action.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5061585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Exemples de requêtes et réponses.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614761" y="387191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Défis Rencontrés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14761" y="446317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Gestion difficile des types de fichiers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614761" y="492990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Bases de données volumineuse</a:t>
            </a:r>
            <a:endParaRPr lang="en-US" sz="18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2229BF-8FD5-4158-F9B4-D1232452DEDB}"/>
              </a:ext>
            </a:extLst>
          </p:cNvPr>
          <p:cNvSpPr/>
          <p:nvPr/>
        </p:nvSpPr>
        <p:spPr>
          <a:xfrm>
            <a:off x="0" y="0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419DF8-7AD8-E163-75B3-2D84501E7773}"/>
              </a:ext>
            </a:extLst>
          </p:cNvPr>
          <p:cNvSpPr/>
          <p:nvPr/>
        </p:nvSpPr>
        <p:spPr>
          <a:xfrm>
            <a:off x="0" y="7510409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56651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Améliorations 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4018478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74" y="4076462"/>
            <a:ext cx="337899" cy="4224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5559" y="401847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Support SGBD Étendu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15559" y="4514017"/>
            <a:ext cx="338089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Compatibilité Oracle et autres SGBD pour une plus grande adaptabilité.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35773" y="4018478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024" y="4076462"/>
            <a:ext cx="337899" cy="4224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13609" y="4018478"/>
            <a:ext cx="321575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Interface Web Responsive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013609" y="4514017"/>
            <a:ext cx="338089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Usage multiplateforme pour une accessibilité accrue.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9633823" y="4018478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4074" y="4076462"/>
            <a:ext cx="337899" cy="4224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11658" y="4018478"/>
            <a:ext cx="299513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Gestion des Erreurs SQL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411658" y="4514017"/>
            <a:ext cx="338089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Fiabilité renforcée grâce à une meilleure gestion des erreurs SQL.</a:t>
            </a:r>
            <a:endParaRPr lang="en-US" sz="18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11491E-F5A4-DA90-132A-663462D30FA4}"/>
              </a:ext>
            </a:extLst>
          </p:cNvPr>
          <p:cNvSpPr/>
          <p:nvPr/>
        </p:nvSpPr>
        <p:spPr>
          <a:xfrm>
            <a:off x="0" y="0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E20697-87E8-9006-FF86-958BCAD92F2E}"/>
              </a:ext>
            </a:extLst>
          </p:cNvPr>
          <p:cNvSpPr/>
          <p:nvPr/>
        </p:nvSpPr>
        <p:spPr>
          <a:xfrm>
            <a:off x="0" y="7510409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562701"/>
            <a:ext cx="6635353" cy="711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🌍</a:t>
            </a: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Utilisations Principales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4022288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74" y="4080272"/>
            <a:ext cx="337899" cy="4224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5559" y="402228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Écoles &amp; Universités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15559" y="4517827"/>
            <a:ext cx="338089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Extraction rapide de données administratives et pédagogiques.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35773" y="4022288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024" y="4080272"/>
            <a:ext cx="337899" cy="4224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13609" y="402228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PME / TPE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013609" y="4517827"/>
            <a:ext cx="338089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Interrogation facile de fichiers clients, ventes et stocks.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9633823" y="4022288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4074" y="4080272"/>
            <a:ext cx="337899" cy="4224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11658" y="4022288"/>
            <a:ext cx="311896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Services Non Techniques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411658" y="4517827"/>
            <a:ext cx="338089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Accès aux KPIs sans écrire de code SQL.</a:t>
            </a:r>
            <a:endParaRPr lang="en-US" sz="18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638677-8BFF-35B4-9C6E-ABECD5A130E0}"/>
              </a:ext>
            </a:extLst>
          </p:cNvPr>
          <p:cNvSpPr/>
          <p:nvPr/>
        </p:nvSpPr>
        <p:spPr>
          <a:xfrm>
            <a:off x="0" y="0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DEDA38-6025-CB0B-ACC8-526542844C61}"/>
              </a:ext>
            </a:extLst>
          </p:cNvPr>
          <p:cNvSpPr/>
          <p:nvPr/>
        </p:nvSpPr>
        <p:spPr>
          <a:xfrm>
            <a:off x="0" y="7510409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74940"/>
            <a:ext cx="679406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Points Clés : Notre Solution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82690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74" y="3884890"/>
            <a:ext cx="337899" cy="4224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5559" y="3826907"/>
            <a:ext cx="297203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Précision et Adaptation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15559" y="4322445"/>
            <a:ext cx="3380899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L'approche RAG + LLM offre des réponses affinées et basées sur les données locales.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35773" y="382690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024" y="3884890"/>
            <a:ext cx="337899" cy="4224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13609" y="382690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LangChain : Outil Clé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013609" y="4322445"/>
            <a:ext cx="3380899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LangChain facilite la connexion entre les LLM et les sources de données spécifiques.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9633823" y="382690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4074" y="3884890"/>
            <a:ext cx="337899" cy="4224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11658" y="382690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Légèreté et Facilité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411658" y="4322445"/>
            <a:ext cx="3380899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Notre solution se distingue par sa légèreté, son adaptabilité et son déploiement facile.</a:t>
            </a:r>
            <a:endParaRPr lang="en-US" sz="18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72A7EC-958A-D485-C2FD-66210E6AD4D8}"/>
              </a:ext>
            </a:extLst>
          </p:cNvPr>
          <p:cNvSpPr/>
          <p:nvPr/>
        </p:nvSpPr>
        <p:spPr>
          <a:xfrm>
            <a:off x="0" y="0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8E5101-E070-98DF-7082-56F45A8994E5}"/>
              </a:ext>
            </a:extLst>
          </p:cNvPr>
          <p:cNvSpPr/>
          <p:nvPr/>
        </p:nvSpPr>
        <p:spPr>
          <a:xfrm>
            <a:off x="0" y="7510409"/>
            <a:ext cx="14630400" cy="703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398</Words>
  <Application>Microsoft Office PowerPoint</Application>
  <PresentationFormat>Personnalisé</PresentationFormat>
  <Paragraphs>78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Kanit</vt:lpstr>
      <vt:lpstr>Arial</vt:lpstr>
      <vt:lpstr>Martel Sans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Nolan ZLOTNIK</cp:lastModifiedBy>
  <cp:revision>2</cp:revision>
  <dcterms:created xsi:type="dcterms:W3CDTF">2025-04-13T19:25:56Z</dcterms:created>
  <dcterms:modified xsi:type="dcterms:W3CDTF">2025-04-14T13:29:35Z</dcterms:modified>
</cp:coreProperties>
</file>